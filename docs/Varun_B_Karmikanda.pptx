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96" r:id="rId5"/>
    <p:sldId id="402" r:id="rId6"/>
    <p:sldId id="367" r:id="rId7"/>
    <p:sldId id="403" r:id="rId8"/>
    <p:sldId id="404" r:id="rId9"/>
    <p:sldId id="412" r:id="rId10"/>
    <p:sldId id="406" r:id="rId11"/>
    <p:sldId id="407" r:id="rId12"/>
    <p:sldId id="408" r:id="rId13"/>
    <p:sldId id="405" r:id="rId14"/>
    <p:sldId id="409" r:id="rId15"/>
    <p:sldId id="410" r:id="rId16"/>
    <p:sldId id="411" r:id="rId17"/>
    <p:sldId id="391" r:id="rId18"/>
    <p:sldId id="392" r:id="rId19"/>
    <p:sldId id="315" r:id="rId20"/>
    <p:sldId id="31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GHUDATHESH GP" initials="RG" lastIdx="1" clrIdx="0">
    <p:extLst>
      <p:ext uri="{19B8F6BF-5375-455C-9EA6-DF929625EA0E}">
        <p15:presenceInfo xmlns:p15="http://schemas.microsoft.com/office/powerpoint/2012/main" userId="a74d4e0bcc64dd72" providerId="Windows Live"/>
      </p:ext>
    </p:extLst>
  </p:cmAuthor>
  <p:cmAuthor id="2" name="Raghudathesh G P [MAHE-MSOIS]" initials="RGP[" lastIdx="1" clrIdx="1">
    <p:extLst>
      <p:ext uri="{19B8F6BF-5375-455C-9EA6-DF929625EA0E}">
        <p15:presenceInfo xmlns:p15="http://schemas.microsoft.com/office/powerpoint/2012/main" userId="Raghudathesh G P [MAHE-MSOIS]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31" autoAdjust="0"/>
    <p:restoredTop sz="94292" autoAdjust="0"/>
  </p:normalViewPr>
  <p:slideViewPr>
    <p:cSldViewPr>
      <p:cViewPr varScale="1">
        <p:scale>
          <a:sx n="92" d="100"/>
          <a:sy n="92" d="100"/>
        </p:scale>
        <p:origin x="160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01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55" d="100"/>
          <a:sy n="55" d="100"/>
        </p:scale>
        <p:origin x="-285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05AF6-C55D-4B29-88D9-0C48D54F3BEF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79E24-26C9-4028-974C-D1109146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endParaRPr lang="en-US" sz="12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60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42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10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839BE-2291-AC5A-B814-1B92419B5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4D1ED-37A1-CCCB-192F-F482937F1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FBEC9-CCF6-DE8B-F9D7-35914C387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98EF3-64AD-63EE-BC03-4E06749F9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15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098E9-9B3E-5CC5-A3E7-03AA6DDA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71369-49FE-7E4A-C6C1-23DBDF3C7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D4866-BF47-90B3-EB61-CEA52BD9F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491C6-B141-DCB2-9854-63E6D92AA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28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CEAE-C388-4C5F-5E79-EC5F61BA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510B8-9BD3-9256-B072-23658ED17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34E0B-15C3-D86B-72A5-EE0BCA48A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66D0B-581F-182D-A51D-CCB5BEDEF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50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22F49-7A61-DD2D-D454-2D55CC408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D8D72-96AE-4AB1-6181-1C63B1A6C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F007B-FC90-029A-AAF3-8CED5288E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0B6D1-E332-84ED-1229-AB2C2BE29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93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DEBF-BD8E-98A5-0D25-F6CCB1240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BD86F-CCB5-18D1-1942-0FC422BCC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5E590-2234-3B06-BA0B-8C6F25E26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C6105-EB2C-296E-319F-040AD8F70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58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7124E-2E1C-AFB8-F8FF-72F0B915C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9440E-F05C-D2ED-96C0-8562B4957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BD4B1-FD99-51CE-C8F9-6D2BEEED9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1E5FF-7DD4-005A-B57C-A79E99A6F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52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16BFB-E9B5-9661-1DA3-22DB1475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528AA-0D51-4257-2A28-2771E957A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2CEC1-9E08-739B-981C-82C0B280F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53F93-8CD0-BC2F-A0EA-476728F5B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39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A796-3730-8F85-7DA8-AD59B68D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16DD1-12E5-FDE5-90D4-C0EEAFCB1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029CC-6FBC-A390-9C37-751D9B585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782F9-9E33-6515-C3D5-82DE03409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68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D6033-7496-4359-5C4F-0C050DA7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5663E-3DBE-5C5B-0DAF-8202E12EA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12E02-3B08-AE2E-AA86-EF5AC7CF6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1DA1A-CDE0-70DF-1769-EED7209DA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161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8487B-9906-59F5-DC17-ECF85F27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060A5-7757-BC2E-16C7-C829B0D09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958E2-D5B4-0A44-499B-D4E1F9730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83453-5728-D7C5-E37F-E185F5AB5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36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79E24-26C9-4028-974C-D1109146F4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2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51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77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25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0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3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27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6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2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45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52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8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3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Line 8"/>
          <p:cNvSpPr>
            <a:spLocks noChangeShapeType="1"/>
          </p:cNvSpPr>
          <p:nvPr/>
        </p:nvSpPr>
        <p:spPr bwMode="auto">
          <a:xfrm>
            <a:off x="0" y="723900"/>
            <a:ext cx="9169400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8" name="Text Box 10"/>
          <p:cNvSpPr txBox="1">
            <a:spLocks noChangeArrowheads="1"/>
          </p:cNvSpPr>
          <p:nvPr/>
        </p:nvSpPr>
        <p:spPr bwMode="auto">
          <a:xfrm>
            <a:off x="0" y="6583363"/>
            <a:ext cx="9144000" cy="274637"/>
          </a:xfrm>
          <a:prstGeom prst="rect">
            <a:avLst/>
          </a:prstGeom>
          <a:solidFill>
            <a:srgbClr val="CC6600">
              <a:alpha val="85097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029" name="Text Box 11"/>
          <p:cNvSpPr txBox="1">
            <a:spLocks noChangeArrowheads="1"/>
          </p:cNvSpPr>
          <p:nvPr/>
        </p:nvSpPr>
        <p:spPr bwMode="auto">
          <a:xfrm>
            <a:off x="0" y="6572250"/>
            <a:ext cx="9144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200" dirty="0"/>
              <a:t>Manipal School</a:t>
            </a:r>
            <a:r>
              <a:rPr lang="en-US" sz="1200" baseline="0" dirty="0"/>
              <a:t> of</a:t>
            </a:r>
            <a:r>
              <a:rPr lang="en-US" sz="1200" dirty="0"/>
              <a:t> Information Sciences, MAHE, Manipal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29400" y="6553200"/>
            <a:ext cx="213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 descr="A picture containing drawing, food, table&#10;&#10;Description automatically generated">
            <a:extLst>
              <a:ext uri="{FF2B5EF4-FFF2-40B4-BE49-F238E27FC236}">
                <a16:creationId xmlns:a16="http://schemas.microsoft.com/office/drawing/2014/main" id="{383AD160-C921-418A-A434-8575746F34D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" y="15789"/>
            <a:ext cx="595661" cy="6619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4963/ijcai.2024/890" TargetMode="External"/><Relationship Id="rId2" Type="http://schemas.openxmlformats.org/officeDocument/2006/relationships/hyperlink" Target="https://doi.org/10.1007/s44336-024-00009-2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" y="843848"/>
            <a:ext cx="8915400" cy="1066800"/>
          </a:xfrm>
        </p:spPr>
        <p:txBody>
          <a:bodyPr/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Multi-Agent LLM Systems</a:t>
            </a:r>
            <a:b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2" y="1452370"/>
            <a:ext cx="8534400" cy="2124460"/>
          </a:xfrm>
        </p:spPr>
        <p:txBody>
          <a:bodyPr/>
          <a:lstStyle/>
          <a:p>
            <a:pPr>
              <a:spcBef>
                <a:spcPct val="50000"/>
              </a:spcBef>
            </a:pPr>
            <a:endParaRPr lang="en-US" sz="1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endParaRPr lang="en-US" sz="1400" i="1" dirty="0"/>
          </a:p>
          <a:p>
            <a:r>
              <a:rPr lang="en-US" sz="1800" b="1" dirty="0">
                <a:solidFill>
                  <a:srgbClr val="993300"/>
                </a:solidFill>
              </a:rPr>
              <a:t>Varun B Karmikanda</a:t>
            </a:r>
          </a:p>
          <a:p>
            <a:r>
              <a:rPr lang="en-US" sz="18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261100610029</a:t>
            </a:r>
          </a:p>
          <a:p>
            <a:r>
              <a:rPr lang="en-US" sz="18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Master of Engineering (Computer Science and Engineering)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516980" y="112177"/>
            <a:ext cx="36270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6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Technical Seminar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E2FD56-EEE4-4CB7-B4A6-60E5600032EF}"/>
              </a:ext>
            </a:extLst>
          </p:cNvPr>
          <p:cNvSpPr/>
          <p:nvPr/>
        </p:nvSpPr>
        <p:spPr>
          <a:xfrm>
            <a:off x="3124200" y="3717331"/>
            <a:ext cx="289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Panel members</a:t>
            </a:r>
            <a:endParaRPr lang="en-US" sz="1400" i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5D8DCD4-2622-4F79-81B1-3DBD7577B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509693"/>
              </p:ext>
            </p:extLst>
          </p:nvPr>
        </p:nvGraphicFramePr>
        <p:xfrm>
          <a:off x="304800" y="4343400"/>
          <a:ext cx="8534400" cy="2124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1380586753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1026407157"/>
                    </a:ext>
                  </a:extLst>
                </a:gridCol>
              </a:tblGrid>
              <a:tr h="318205">
                <a:tc>
                  <a:txBody>
                    <a:bodyPr/>
                    <a:lstStyle/>
                    <a:p>
                      <a:pPr mar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IN" sz="2000" b="1" kern="1200" dirty="0">
                          <a:solidFill>
                            <a:srgbClr val="99330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Panel Member 1: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IN" sz="2000" b="1" kern="1200" dirty="0">
                          <a:solidFill>
                            <a:srgbClr val="99330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Panel Member 2</a:t>
                      </a:r>
                      <a:r>
                        <a:rPr lang="en-IN" sz="2000" b="1" dirty="0">
                          <a:solidFill>
                            <a:srgbClr val="99330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210741"/>
                  </a:ext>
                </a:extLst>
              </a:tr>
              <a:tr h="318205">
                <a:tc>
                  <a:txBody>
                    <a:bodyPr/>
                    <a:lstStyle/>
                    <a:p>
                      <a:pPr mar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IN" sz="2000" b="1" kern="1200" dirty="0">
                          <a:solidFill>
                            <a:srgbClr val="99330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Dr </a:t>
                      </a:r>
                      <a:r>
                        <a:rPr lang="en-IN" sz="2000" b="1" kern="1200" dirty="0" err="1">
                          <a:solidFill>
                            <a:srgbClr val="99330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Sathyendranath</a:t>
                      </a:r>
                      <a:r>
                        <a:rPr lang="en-IN" sz="2000" b="1" kern="1200" dirty="0">
                          <a:solidFill>
                            <a:srgbClr val="99330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Malli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IN" sz="2000" b="1" kern="1200" dirty="0">
                          <a:solidFill>
                            <a:srgbClr val="99330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Mr Balaji 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3874261"/>
                  </a:ext>
                </a:extLst>
              </a:tr>
              <a:tr h="318205">
                <a:tc>
                  <a:txBody>
                    <a:bodyPr/>
                    <a:lstStyle/>
                    <a:p>
                      <a:pPr mar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Associate Professor</a:t>
                      </a:r>
                      <a:endParaRPr lang="en-IN" sz="2000" kern="12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Assistant Professor - Selection Grade</a:t>
                      </a:r>
                      <a:endParaRPr lang="en-IN" sz="2000" kern="12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8773260"/>
                  </a:ext>
                </a:extLst>
              </a:tr>
              <a:tr h="46787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Manipal School of Information Sciences</a:t>
                      </a:r>
                      <a:endParaRPr lang="en-IN" sz="20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Manipal School of Information Sciences</a:t>
                      </a:r>
                      <a:endParaRPr lang="en-IN" sz="20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8670231"/>
                  </a:ext>
                </a:extLst>
              </a:tr>
              <a:tr h="467870">
                <a:tc>
                  <a:txBody>
                    <a:bodyPr/>
                    <a:lstStyle/>
                    <a:p>
                      <a:pPr mar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IN" sz="2000" kern="12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MAHE, Manipal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MAHE, Manipal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8539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152400"/>
            <a:ext cx="6172200" cy="533400"/>
          </a:xfrm>
        </p:spPr>
        <p:txBody>
          <a:bodyPr/>
          <a:lstStyle/>
          <a:p>
            <a:r>
              <a:rPr lang="en-US" sz="2400" dirty="0"/>
              <a:t>                   </a:t>
            </a:r>
            <a:r>
              <a:rPr lang="en-US" sz="36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Outline</a:t>
            </a:r>
            <a:br>
              <a:rPr lang="en-US" sz="2800" b="1" i="1" dirty="0">
                <a:solidFill>
                  <a:srgbClr val="CC6600"/>
                </a:solidFill>
                <a:latin typeface="Courier New" pitchFamily="49" charset="0"/>
                <a:cs typeface="Courier New" pitchFamily="49" charset="0"/>
              </a:rPr>
            </a:b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D2FAA9E-4F54-DB61-9D0B-56F946789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232076"/>
              </p:ext>
            </p:extLst>
          </p:nvPr>
        </p:nvGraphicFramePr>
        <p:xfrm>
          <a:off x="495300" y="1295400"/>
          <a:ext cx="8153400" cy="486000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00700">
                  <a:extLst>
                    <a:ext uri="{9D8B030D-6E8A-4147-A177-3AD203B41FA5}">
                      <a16:colId xmlns:a16="http://schemas.microsoft.com/office/drawing/2014/main" val="302119415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3184497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lvl="0" indent="0">
                        <a:buFont typeface="+mj-lt"/>
                        <a:buNone/>
                      </a:pPr>
                      <a:r>
                        <a:rPr lang="en-IN" sz="2000" dirty="0"/>
                        <a:t>1. Introduction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8817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lvl="0" indent="0">
                        <a:buFont typeface="+mj-lt"/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IN" sz="1800" dirty="0"/>
                        <a:t>Objectives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77962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3. Literature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4231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en-IN" dirty="0"/>
                        <a:t>From LLMs to Agents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6 - 7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41274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5. How Multi-Agent Systems Work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 – 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58761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6. Case Study: Research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 –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6852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7. Applications, Challenges &amp; Future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02909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8. 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36495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9. 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0129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686800" cy="381000"/>
          </a:xfrm>
        </p:spPr>
        <p:txBody>
          <a:bodyPr/>
          <a:lstStyle/>
          <a:p>
            <a:r>
              <a:rPr lang="en-US" sz="2800" b="1" i="1" dirty="0">
                <a:solidFill>
                  <a:srgbClr val="CC6600"/>
                </a:solidFill>
              </a:rPr>
              <a:t>		  		                  </a:t>
            </a:r>
            <a:r>
              <a:rPr lang="en-US" sz="36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Introduction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486400"/>
          </a:xfrm>
        </p:spPr>
        <p:txBody>
          <a:bodyPr/>
          <a:lstStyle/>
          <a:p>
            <a:pPr algn="just"/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algn="just"/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endParaRPr lang="en-US" sz="2000" dirty="0">
              <a:ea typeface="+mn-ea"/>
              <a:cs typeface="+mn-cs"/>
            </a:endParaRPr>
          </a:p>
          <a:p>
            <a:pPr lvl="1">
              <a:lnSpc>
                <a:spcPct val="80000"/>
              </a:lnSpc>
            </a:pPr>
            <a:endParaRPr lang="en-US" sz="1100" dirty="0">
              <a:latin typeface="Courier New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0FE75-550F-2B6C-1DE7-2C053B23AD04}"/>
              </a:ext>
            </a:extLst>
          </p:cNvPr>
          <p:cNvSpPr txBox="1"/>
          <p:nvPr/>
        </p:nvSpPr>
        <p:spPr>
          <a:xfrm>
            <a:off x="381000" y="776282"/>
            <a:ext cx="838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One LLM can answer. An agent can </a:t>
            </a:r>
            <a:r>
              <a:rPr lang="en-IN" b="1" i="1" dirty="0"/>
              <a:t>act</a:t>
            </a:r>
            <a:r>
              <a:rPr lang="en-IN" b="1" dirty="0"/>
              <a:t>.</a:t>
            </a:r>
            <a:r>
              <a:rPr lang="en-IN" dirty="0"/>
              <a:t> Give an LLM a role, memory and tools, and it stops just chatting and starts doing.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One agent hits a ceiling.</a:t>
            </a:r>
            <a:r>
              <a:rPr lang="en-IN" dirty="0"/>
              <a:t> Complex tasks need planning, checking and specialization, and a single model does everything alone, with nobody to catch its mistakes.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So we build teams.</a:t>
            </a:r>
            <a:r>
              <a:rPr lang="en-IN" dirty="0"/>
              <a:t> Specialized LLM agents divide the work, talk to each other and cross-check results.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The field is moving fast, but it’s scattered.</a:t>
            </a:r>
            <a:r>
              <a:rPr lang="en-IN" dirty="0"/>
              <a:t> Li et al. (2024) pull it together in one framework: </a:t>
            </a:r>
            <a:r>
              <a:rPr lang="en-IN" b="1" dirty="0"/>
              <a:t>profile → perception → self-action → interaction → evolution.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228600"/>
            <a:ext cx="5791200" cy="411162"/>
          </a:xfrm>
        </p:spPr>
        <p:txBody>
          <a:bodyPr/>
          <a:lstStyle/>
          <a:p>
            <a:r>
              <a:rPr lang="en-US" sz="2400" b="1" i="1" dirty="0">
                <a:solidFill>
                  <a:srgbClr val="CC6600"/>
                </a:solidFill>
                <a:latin typeface="Courier New" pitchFamily="49" charset="0"/>
              </a:rPr>
              <a:t>       </a:t>
            </a:r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Objectives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5562600"/>
          </a:xfrm>
        </p:spPr>
        <p:txBody>
          <a:bodyPr/>
          <a:lstStyle/>
          <a:p>
            <a:pPr marL="457200" lvl="1" indent="0" algn="just">
              <a:buNone/>
            </a:pPr>
            <a:endParaRPr lang="en-I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None/>
            </a:pP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FBAF7B-22B4-7062-18F3-6073086F8BBB}"/>
              </a:ext>
            </a:extLst>
          </p:cNvPr>
          <p:cNvSpPr txBox="1"/>
          <p:nvPr/>
        </p:nvSpPr>
        <p:spPr>
          <a:xfrm>
            <a:off x="457200" y="1143000"/>
            <a:ext cx="82295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/>
              <a:t>By the end of this session, you will be able to: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 dirty="0"/>
              <a:t>Explain</a:t>
            </a:r>
            <a:r>
              <a:rPr lang="en-IN" dirty="0"/>
              <a:t> what LLM-based multi-agent systems are and why one LLM is not enough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 dirty="0"/>
              <a:t>Describe</a:t>
            </a:r>
            <a:r>
              <a:rPr lang="en-IN" dirty="0"/>
              <a:t> how they work: single-agent components plus the interaction layer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 dirty="0"/>
              <a:t>Apply</a:t>
            </a:r>
            <a:r>
              <a:rPr lang="en-IN" dirty="0"/>
              <a:t> the framework to a case study, an autonomous research assistant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 dirty="0"/>
              <a:t>Identify</a:t>
            </a:r>
            <a:r>
              <a:rPr lang="en-IN" dirty="0"/>
              <a:t> real applications, key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3D2BC8FF-371F-43DC-A6ED-687E62CBB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961353"/>
              </p:ext>
            </p:extLst>
          </p:nvPr>
        </p:nvGraphicFramePr>
        <p:xfrm>
          <a:off x="29096" y="1331545"/>
          <a:ext cx="9116290" cy="33965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112737">
                  <a:extLst>
                    <a:ext uri="{9D8B030D-6E8A-4147-A177-3AD203B41FA5}">
                      <a16:colId xmlns:a16="http://schemas.microsoft.com/office/drawing/2014/main" val="3569427547"/>
                    </a:ext>
                  </a:extLst>
                </a:gridCol>
                <a:gridCol w="1896767">
                  <a:extLst>
                    <a:ext uri="{9D8B030D-6E8A-4147-A177-3AD203B41FA5}">
                      <a16:colId xmlns:a16="http://schemas.microsoft.com/office/drawing/2014/main" val="34296760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41975426"/>
                    </a:ext>
                  </a:extLst>
                </a:gridCol>
                <a:gridCol w="2668386">
                  <a:extLst>
                    <a:ext uri="{9D8B030D-6E8A-4147-A177-3AD203B41FA5}">
                      <a16:colId xmlns:a16="http://schemas.microsoft.com/office/drawing/2014/main" val="1149436164"/>
                    </a:ext>
                  </a:extLst>
                </a:gridCol>
              </a:tblGrid>
              <a:tr h="394288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IN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Authors</a:t>
                      </a:r>
                      <a:endParaRPr lang="en-IN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Purpose of Study</a:t>
                      </a:r>
                      <a:endParaRPr lang="en-IN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Findings</a:t>
                      </a:r>
                      <a:endParaRPr lang="en-IN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702146"/>
                  </a:ext>
                </a:extLst>
              </a:tr>
              <a:tr h="1205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survey on LLM-based multi-agent systems: workflow, infrastructure, and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/>
                        <a:t>Xinyi Li, Sai Wang, Siqi Zeng, Yu Wu, Yi Yang</a:t>
                      </a: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/>
                        <a:t>To give a systematic overview of LLM-based multi-agent systems organized around their workflow, since earlier work was scattered and lacked a unified framework</a:t>
                      </a: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/>
                        <a:t>•Proposes a </a:t>
                      </a:r>
                      <a:r>
                        <a:rPr lang="en-IN" sz="1200" b="1" dirty="0"/>
                        <a:t>5-module framework</a:t>
                      </a:r>
                      <a:r>
                        <a:rPr lang="en-IN" sz="1200" dirty="0"/>
                        <a:t>: profile, perception, self-action, mutual interaction, evolution</a:t>
                      </a:r>
                    </a:p>
                    <a:p>
                      <a:pPr algn="l"/>
                      <a:br>
                        <a:rPr lang="en-IN" sz="1200" dirty="0"/>
                      </a:br>
                      <a:r>
                        <a:rPr lang="en-IN" sz="1200" dirty="0"/>
                        <a:t>• Splits applications into </a:t>
                      </a:r>
                      <a:r>
                        <a:rPr lang="en-IN" sz="1200" b="1" dirty="0"/>
                        <a:t>problem solving</a:t>
                      </a:r>
                      <a:r>
                        <a:rPr lang="en-IN" sz="1200" dirty="0"/>
                        <a:t> and </a:t>
                      </a:r>
                      <a:r>
                        <a:rPr lang="en-IN" sz="1200" b="1" dirty="0"/>
                        <a:t>world simulation.</a:t>
                      </a:r>
                    </a:p>
                    <a:p>
                      <a:pPr algn="l"/>
                      <a:br>
                        <a:rPr lang="en-IN" sz="1200" dirty="0"/>
                      </a:br>
                      <a:r>
                        <a:rPr lang="en-IN" sz="1200" dirty="0"/>
                        <a:t>• Lists open problems</a:t>
                      </a:r>
                      <a:endParaRPr lang="en-IN" sz="12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031954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Large language model based multi-agents: A survey of progress and challenges</a:t>
                      </a: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 err="1"/>
                        <a:t>Taicheng</a:t>
                      </a:r>
                      <a:r>
                        <a:rPr lang="en-IN" sz="1200" dirty="0"/>
                        <a:t> Guo, Xiuying Chen, </a:t>
                      </a:r>
                      <a:r>
                        <a:rPr lang="en-IN" sz="1200" dirty="0" err="1"/>
                        <a:t>Yaqi</a:t>
                      </a:r>
                      <a:r>
                        <a:rPr lang="en-IN" sz="1200" dirty="0"/>
                        <a:t> Wang, </a:t>
                      </a:r>
                      <a:r>
                        <a:rPr lang="en-IN" sz="1200" dirty="0" err="1"/>
                        <a:t>Ruidi</a:t>
                      </a:r>
                      <a:r>
                        <a:rPr lang="en-IN" sz="1200" dirty="0"/>
                        <a:t> Chang, </a:t>
                      </a:r>
                      <a:r>
                        <a:rPr lang="en-IN" sz="1200" dirty="0" err="1"/>
                        <a:t>Shichao</a:t>
                      </a:r>
                      <a:r>
                        <a:rPr lang="en-IN" sz="1200" dirty="0"/>
                        <a:t> Pei, Nitesh V. Chawla, Olaf Wiest, </a:t>
                      </a:r>
                      <a:r>
                        <a:rPr lang="en-IN" sz="1200" dirty="0" err="1"/>
                        <a:t>Xiangliang</a:t>
                      </a:r>
                      <a:r>
                        <a:rPr lang="en-IN" sz="1200" dirty="0"/>
                        <a:t> Zhang</a:t>
                      </a: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/>
                        <a:t>To explain the essential aspects and challenges of LLM-based multi-agent systems</a:t>
                      </a: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200" dirty="0"/>
                        <a:t>• Organizes the field by the </a:t>
                      </a:r>
                      <a:r>
                        <a:rPr lang="en-IN" sz="1200" b="1" dirty="0"/>
                        <a:t>agents-environment interface, agent profiling, communication, and capability growth</a:t>
                      </a:r>
                      <a:endParaRPr lang="en-IN" sz="12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26030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FBA9B-D17D-4FAF-88E0-446F6CA31A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18E5D56-C3E6-4F36-A154-E62F5E37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738"/>
            <a:ext cx="8686800" cy="3810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Literature Review</a:t>
            </a: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226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FBA9B-D17D-4FAF-88E0-446F6CA31A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18E5D56-C3E6-4F36-A154-E62F5E37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59091" cy="5334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IN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LLM to Agents </a:t>
            </a:r>
            <a:br>
              <a:rPr lang="en-IN" sz="2800" kern="12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715000"/>
          </a:xfrm>
        </p:spPr>
        <p:txBody>
          <a:bodyPr/>
          <a:lstStyle/>
          <a:p>
            <a:pPr lvl="1"/>
            <a:endParaRPr lang="en-IN" dirty="0">
              <a:latin typeface="Calibri" panose="020F0502020204030204" pitchFamily="34" charset="0"/>
              <a:ea typeface="Times New Roman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BCA720-BCE6-22E5-BC7B-A28F3B95166E}"/>
              </a:ext>
            </a:extLst>
          </p:cNvPr>
          <p:cNvSpPr txBox="1"/>
          <p:nvPr/>
        </p:nvSpPr>
        <p:spPr>
          <a:xfrm>
            <a:off x="381000" y="1066800"/>
            <a:ext cx="541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Why Is a Single LLM Not Enough?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CB32F-8BCA-796A-44D0-27FAA1FB1396}"/>
              </a:ext>
            </a:extLst>
          </p:cNvPr>
          <p:cNvSpPr txBox="1"/>
          <p:nvPr/>
        </p:nvSpPr>
        <p:spPr>
          <a:xfrm>
            <a:off x="381000" y="1588532"/>
            <a:ext cx="8458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Outdated knowledge:</a:t>
            </a:r>
            <a:r>
              <a:rPr lang="en-IN" dirty="0"/>
              <a:t> training data lags behind the real world.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Hallucination:</a:t>
            </a:r>
            <a:r>
              <a:rPr lang="en-IN" dirty="0"/>
              <a:t> without grounding in verified facts, it can produce fluent but wrong answers.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Weak planning:</a:t>
            </a:r>
            <a:r>
              <a:rPr lang="en-IN" dirty="0"/>
              <a:t> one-shot reasoning is brittle on long, complex tasks, and a single model explores large search spaces inefficiently.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Limited long-context handling:</a:t>
            </a:r>
            <a:r>
              <a:rPr lang="en-IN" dirty="0"/>
              <a:t> it struggles to keep track of long or multi-part tasks.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No ability to act:</a:t>
            </a:r>
            <a:r>
              <a:rPr lang="en-IN" dirty="0"/>
              <a:t> without tools or an environment, it can only generate text.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No specialization or cross-checking:</a:t>
            </a:r>
            <a:r>
              <a:rPr lang="en-IN" dirty="0"/>
              <a:t> one model does everything, and nobody reviews its answer.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035A85-4371-C563-1C62-BD6AC7118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212548"/>
            <a:ext cx="2049087" cy="226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8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C59BF-B498-9F7B-050B-263F8F8BC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0A7F5-013E-E3FA-0448-B301512F8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799BCC-1304-A593-09FD-F3693D519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59091" cy="5334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IN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LLM to Agents </a:t>
            </a:r>
            <a:br>
              <a:rPr lang="en-IN" sz="2800" kern="12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863C3-F98F-4FB4-5F31-9E7957371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715000"/>
          </a:xfrm>
        </p:spPr>
        <p:txBody>
          <a:bodyPr/>
          <a:lstStyle/>
          <a:p>
            <a:pPr lvl="1"/>
            <a:endParaRPr lang="en-IN" dirty="0">
              <a:latin typeface="Calibri" panose="020F0502020204030204" pitchFamily="34" charset="0"/>
              <a:ea typeface="Times New Roman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448284-0EF6-169B-BF47-9B574D685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71" y="1623360"/>
            <a:ext cx="6988927" cy="27724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D475EF-ABC4-05C1-106F-AE27583066E6}"/>
              </a:ext>
            </a:extLst>
          </p:cNvPr>
          <p:cNvSpPr txBox="1"/>
          <p:nvPr/>
        </p:nvSpPr>
        <p:spPr>
          <a:xfrm>
            <a:off x="457199" y="772108"/>
            <a:ext cx="8070272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Agent</a:t>
            </a:r>
            <a:r>
              <a:rPr lang="en-IN" dirty="0"/>
              <a:t> = entity that </a:t>
            </a:r>
            <a:r>
              <a:rPr lang="en-IN" b="1" dirty="0"/>
              <a:t>perceives</a:t>
            </a:r>
            <a:r>
              <a:rPr lang="en-IN" dirty="0"/>
              <a:t> its environment and </a:t>
            </a:r>
            <a:r>
              <a:rPr lang="en-IN" b="1" dirty="0"/>
              <a:t>takes action</a:t>
            </a:r>
          </a:p>
          <a:p>
            <a:pPr>
              <a:lnSpc>
                <a:spcPct val="150000"/>
              </a:lnSpc>
            </a:pPr>
            <a:r>
              <a:rPr lang="en-IN" dirty="0"/>
              <a:t>LLM = the </a:t>
            </a:r>
            <a:r>
              <a:rPr lang="en-IN" b="1" dirty="0"/>
              <a:t>brain</a:t>
            </a:r>
            <a:r>
              <a:rPr lang="en-IN" dirty="0"/>
              <a:t> providing </a:t>
            </a:r>
            <a:r>
              <a:rPr lang="en-IN" b="1" dirty="0"/>
              <a:t>reasoning</a:t>
            </a:r>
            <a:r>
              <a:rPr lang="en-IN" dirty="0"/>
              <a:t> and </a:t>
            </a:r>
            <a:r>
              <a:rPr lang="en-IN" b="1" dirty="0"/>
              <a:t>planning</a:t>
            </a:r>
            <a:endParaRPr lang="en-IN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2FD08-7019-63F6-9CF9-59E8CA03D625}"/>
              </a:ext>
            </a:extLst>
          </p:cNvPr>
          <p:cNvSpPr txBox="1"/>
          <p:nvPr/>
        </p:nvSpPr>
        <p:spPr>
          <a:xfrm>
            <a:off x="462740" y="4454113"/>
            <a:ext cx="8064731" cy="1946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spcBef>
                <a:spcPts val="300"/>
              </a:spcBef>
            </a:pPr>
            <a:r>
              <a:rPr lang="en-IN" dirty="0"/>
              <a:t>An LLM-based agent adds: </a:t>
            </a:r>
          </a:p>
          <a:p>
            <a:pPr marL="342900" lvl="0" indent="-342900" rtl="0">
              <a:spcBef>
                <a:spcPts val="300"/>
              </a:spcBef>
              <a:buFont typeface="+mj-lt"/>
              <a:buAutoNum type="arabicPeriod"/>
            </a:pPr>
            <a:r>
              <a:rPr lang="en-IN" b="1" dirty="0"/>
              <a:t>Profile</a:t>
            </a:r>
            <a:r>
              <a:rPr lang="en-IN" dirty="0"/>
              <a:t> (who am I?)</a:t>
            </a:r>
          </a:p>
          <a:p>
            <a:pPr marL="342900" lvl="0" indent="-342900" rtl="0">
              <a:spcBef>
                <a:spcPts val="300"/>
              </a:spcBef>
              <a:buFont typeface="+mj-lt"/>
              <a:buAutoNum type="arabicPeriod"/>
            </a:pPr>
            <a:r>
              <a:rPr lang="en-IN" b="1" dirty="0"/>
              <a:t>Perception</a:t>
            </a:r>
            <a:r>
              <a:rPr lang="en-IN" dirty="0"/>
              <a:t> (what do I see?)</a:t>
            </a:r>
          </a:p>
          <a:p>
            <a:pPr marL="342900" lvl="0" indent="-342900" rtl="0">
              <a:spcBef>
                <a:spcPts val="300"/>
              </a:spcBef>
              <a:buFont typeface="+mj-lt"/>
              <a:buAutoNum type="arabicPeriod"/>
            </a:pPr>
            <a:r>
              <a:rPr lang="en-IN" b="1" dirty="0"/>
              <a:t>Memory + knowledge</a:t>
            </a:r>
            <a:r>
              <a:rPr lang="en-IN" dirty="0"/>
              <a:t> (what do I know?)</a:t>
            </a:r>
          </a:p>
          <a:p>
            <a:pPr marL="342900" lvl="0" indent="-342900" rtl="0">
              <a:spcBef>
                <a:spcPts val="300"/>
              </a:spcBef>
              <a:buFont typeface="+mj-lt"/>
              <a:buAutoNum type="arabicPeriod"/>
            </a:pPr>
            <a:r>
              <a:rPr lang="en-IN" b="1" dirty="0"/>
              <a:t>Reasoning/planning</a:t>
            </a:r>
            <a:r>
              <a:rPr lang="en-IN" dirty="0"/>
              <a:t> (what should I do?)</a:t>
            </a:r>
          </a:p>
          <a:p>
            <a:pPr marL="342900" lvl="0" indent="-342900" rtl="0">
              <a:spcBef>
                <a:spcPts val="300"/>
              </a:spcBef>
              <a:buFont typeface="+mj-lt"/>
              <a:buAutoNum type="arabicPeriod"/>
            </a:pPr>
            <a:r>
              <a:rPr lang="en-IN" b="1" dirty="0"/>
              <a:t>Action</a:t>
            </a:r>
            <a:r>
              <a:rPr lang="en-IN" dirty="0"/>
              <a:t> (do it, via tools or messages)</a:t>
            </a:r>
          </a:p>
        </p:txBody>
      </p:sp>
    </p:spTree>
    <p:extLst>
      <p:ext uri="{BB962C8B-B14F-4D97-AF65-F5344CB8AC3E}">
        <p14:creationId xmlns:p14="http://schemas.microsoft.com/office/powerpoint/2010/main" val="368892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DB04-3519-615C-F7B8-762F9C61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14FA7-D192-B01B-ECBA-9F6152252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D1093-8D27-523C-04EA-F04FF1068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59091" cy="5334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How Multi-Agent systems work </a:t>
            </a:r>
            <a:br>
              <a:rPr lang="en-IN" sz="2800" kern="12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53560-4BB3-8567-D273-AF059055D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19673"/>
            <a:ext cx="8229600" cy="1913929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/>
              <a:t>Between agents (what makes it multi-agent)</a:t>
            </a:r>
            <a:r>
              <a:rPr lang="en-IN" sz="1800" dirty="0"/>
              <a:t> </a:t>
            </a:r>
          </a:p>
          <a:p>
            <a:pPr marL="0" indent="0">
              <a:buNone/>
            </a:pPr>
            <a:r>
              <a:rPr lang="en-IN" sz="1800" b="1" dirty="0"/>
              <a:t>5</a:t>
            </a:r>
            <a:r>
              <a:rPr lang="en-IN" sz="1800" dirty="0"/>
              <a:t>. </a:t>
            </a:r>
            <a:r>
              <a:rPr lang="en-IN" sz="1800" b="1" dirty="0"/>
              <a:t>Mutual interaction</a:t>
            </a:r>
            <a:endParaRPr lang="en-IN" sz="1800" dirty="0"/>
          </a:p>
          <a:p>
            <a:pPr lvl="1"/>
            <a:r>
              <a:rPr lang="en-IN" sz="1600" i="1" dirty="0"/>
              <a:t>Message delivery</a:t>
            </a:r>
            <a:r>
              <a:rPr lang="en-IN" sz="1600" dirty="0"/>
              <a:t>: direct (broadcast, point-to-point) or via a shared pool</a:t>
            </a:r>
          </a:p>
          <a:p>
            <a:pPr lvl="1"/>
            <a:r>
              <a:rPr lang="en-IN" sz="1600" i="1" dirty="0"/>
              <a:t>Structure</a:t>
            </a:r>
            <a:r>
              <a:rPr lang="en-IN" sz="1600" dirty="0"/>
              <a:t>: hierarchical, centralized, decentralized, shared message pool</a:t>
            </a:r>
          </a:p>
          <a:p>
            <a:pPr lvl="1"/>
            <a:r>
              <a:rPr lang="en-IN" sz="1600" i="1" dirty="0"/>
              <a:t>Scene</a:t>
            </a:r>
            <a:r>
              <a:rPr lang="en-IN" sz="1600" dirty="0"/>
              <a:t>: cooperative, adversarial, mixed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D8A2AF-E90C-FAB0-6179-32B9CD8B8BEF}"/>
              </a:ext>
            </a:extLst>
          </p:cNvPr>
          <p:cNvSpPr txBox="1"/>
          <p:nvPr/>
        </p:nvSpPr>
        <p:spPr>
          <a:xfrm>
            <a:off x="457200" y="9906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multi-agent system is </a:t>
            </a:r>
            <a:r>
              <a:rPr lang="en-IN" b="1" dirty="0"/>
              <a:t>a team of single agents + an interaction layer.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D2C713-5FD7-EBD4-AD82-C379E50ECC3A}"/>
              </a:ext>
            </a:extLst>
          </p:cNvPr>
          <p:cNvSpPr txBox="1"/>
          <p:nvPr/>
        </p:nvSpPr>
        <p:spPr>
          <a:xfrm>
            <a:off x="457200" y="1397675"/>
            <a:ext cx="8077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/>
              <a:t>Inside every agent (single-agent parts)</a:t>
            </a:r>
            <a:endParaRPr lang="en-IN" dirty="0"/>
          </a:p>
          <a:p>
            <a:pPr marL="342900" lvl="0" indent="-342900" rtl="0">
              <a:buFont typeface="+mj-lt"/>
              <a:buAutoNum type="arabicPeriod"/>
            </a:pPr>
            <a:r>
              <a:rPr lang="en-IN" b="1" dirty="0"/>
              <a:t>Profile</a:t>
            </a:r>
            <a:r>
              <a:rPr lang="en-IN" dirty="0"/>
              <a:t>: role, goals, constraints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b="1" dirty="0"/>
              <a:t>Perception</a:t>
            </a:r>
            <a:r>
              <a:rPr lang="en-IN" dirty="0"/>
              <a:t>: text, images, audio from the environment and other agents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b="1" dirty="0"/>
              <a:t>Self-action</a:t>
            </a:r>
            <a:r>
              <a:rPr lang="en-IN" dirty="0"/>
              <a:t>: memory, knowledge/tools, reasoning and planning, action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b="1" dirty="0"/>
              <a:t>Evolution</a:t>
            </a:r>
            <a:r>
              <a:rPr lang="en-IN" dirty="0"/>
              <a:t>: reflect on feedback and improve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95AF8C-EB80-E196-CEFC-2A12888C6B11}"/>
              </a:ext>
            </a:extLst>
          </p:cNvPr>
          <p:cNvSpPr txBox="1"/>
          <p:nvPr/>
        </p:nvSpPr>
        <p:spPr>
          <a:xfrm>
            <a:off x="457200" y="4684281"/>
            <a:ext cx="807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/>
              <a:t>What changes in a team</a:t>
            </a:r>
            <a:endParaRPr lang="en-IN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/>
              <a:t>Profiles become </a:t>
            </a:r>
            <a:r>
              <a:rPr lang="en-IN" b="1" dirty="0"/>
              <a:t>specialized roles</a:t>
            </a:r>
            <a:endParaRPr lang="en-IN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/>
              <a:t>Memory stays </a:t>
            </a:r>
            <a:r>
              <a:rPr lang="en-IN" b="1" dirty="0"/>
              <a:t>private per agent</a:t>
            </a:r>
            <a:r>
              <a:rPr lang="en-IN" dirty="0"/>
              <a:t>, unless shared through a message pool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/>
              <a:t>Evolution can use </a:t>
            </a:r>
            <a:r>
              <a:rPr lang="en-IN" b="1" dirty="0"/>
              <a:t>other agents feedback</a:t>
            </a:r>
            <a:r>
              <a:rPr lang="en-IN" dirty="0"/>
              <a:t> as a learning signal</a:t>
            </a:r>
          </a:p>
        </p:txBody>
      </p:sp>
    </p:spTree>
    <p:extLst>
      <p:ext uri="{BB962C8B-B14F-4D97-AF65-F5344CB8AC3E}">
        <p14:creationId xmlns:p14="http://schemas.microsoft.com/office/powerpoint/2010/main" val="58920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7E2B1-7472-FBDF-0054-A7977BF8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D77D8-0E43-DB01-CA4C-BB0A3A01E4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CBBE33-393D-CA34-BF43-7877C29B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59091" cy="5334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How Multi-Agent systems work </a:t>
            </a:r>
            <a:br>
              <a:rPr lang="en-IN" sz="2800" kern="12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C3C8-76BF-7B9F-626E-F74707603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715000"/>
          </a:xfrm>
        </p:spPr>
        <p:txBody>
          <a:bodyPr/>
          <a:lstStyle/>
          <a:p>
            <a:pPr lvl="1"/>
            <a:endParaRPr lang="en-IN" dirty="0">
              <a:latin typeface="Calibri" panose="020F0502020204030204" pitchFamily="34" charset="0"/>
              <a:ea typeface="Times New Roman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031BFB-6B4F-3B59-3577-A29CC1D11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2709"/>
            <a:ext cx="9144000" cy="521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48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1612F-D538-5B17-F254-C752E9FD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A37D7-152A-E6F0-56B1-EBF58F29E9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AB4EB3-0EFC-82BC-8B11-585C973D1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59091" cy="5334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How Multi-Agent systems work </a:t>
            </a:r>
            <a:br>
              <a:rPr lang="en-IN" sz="2800" kern="12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A9102-43BB-8D36-B41D-8DE4B5DEC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715000"/>
          </a:xfrm>
        </p:spPr>
        <p:txBody>
          <a:bodyPr/>
          <a:lstStyle/>
          <a:p>
            <a:pPr lvl="1"/>
            <a:endParaRPr lang="en-IN" dirty="0">
              <a:latin typeface="Calibri" panose="020F0502020204030204" pitchFamily="34" charset="0"/>
              <a:ea typeface="Times New Roman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B641D4-8224-6E4F-3B39-44F8856B8532}"/>
              </a:ext>
            </a:extLst>
          </p:cNvPr>
          <p:cNvSpPr txBox="1"/>
          <p:nvPr/>
        </p:nvSpPr>
        <p:spPr>
          <a:xfrm>
            <a:off x="457200" y="990600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Memory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D6DFC8-F1DA-52BE-715B-5065D502A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529" y="1143000"/>
            <a:ext cx="5872942" cy="30946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5CFC5B-CD61-A894-C186-C8FFB25E13BB}"/>
              </a:ext>
            </a:extLst>
          </p:cNvPr>
          <p:cNvSpPr txBox="1"/>
          <p:nvPr/>
        </p:nvSpPr>
        <p:spPr>
          <a:xfrm>
            <a:off x="304800" y="4489608"/>
            <a:ext cx="838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Short-term memory (STM): </a:t>
            </a:r>
            <a:r>
              <a:rPr lang="en-IN" dirty="0"/>
              <a:t>Context of current 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Long-term Memory (LTM): </a:t>
            </a:r>
            <a:r>
              <a:rPr lang="en-US" dirty="0"/>
              <a:t>Knowledge or data over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Episodic Memory:</a:t>
            </a:r>
            <a:r>
              <a:rPr lang="en-US" dirty="0"/>
              <a:t> Specific events and experiences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Semantic Memory:</a:t>
            </a:r>
            <a:r>
              <a:rPr lang="en-US" dirty="0"/>
              <a:t> Facts and world knowledge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Procedural Memory:</a:t>
            </a:r>
            <a:r>
              <a:rPr lang="en-US" dirty="0"/>
              <a:t> Rule based data for immediate tasks.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548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09C7-3551-ECAC-3E0F-CDF4F0932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E04A3-D3D3-DE78-2E07-56D085388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0A36564-ABC2-04E6-0B32-54F8DD3F2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59091" cy="5334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How Multi-Agent systems work </a:t>
            </a:r>
            <a:br>
              <a:rPr lang="en-IN" sz="2800" kern="12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D51E8-56C6-496A-4371-D7AD8D9F6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715000"/>
          </a:xfrm>
        </p:spPr>
        <p:txBody>
          <a:bodyPr/>
          <a:lstStyle/>
          <a:p>
            <a:pPr lvl="1"/>
            <a:endParaRPr lang="en-IN" dirty="0">
              <a:latin typeface="Calibri" panose="020F0502020204030204" pitchFamily="34" charset="0"/>
              <a:ea typeface="Times New Roman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68910-EC12-34D8-332A-6C8C092AF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80" y="1516666"/>
            <a:ext cx="6854440" cy="39923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3BC6F3-918E-98DD-FF3B-028AF0669CCF}"/>
              </a:ext>
            </a:extLst>
          </p:cNvPr>
          <p:cNvSpPr txBox="1"/>
          <p:nvPr/>
        </p:nvSpPr>
        <p:spPr>
          <a:xfrm>
            <a:off x="453044" y="888792"/>
            <a:ext cx="4659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Knowledge and tools</a:t>
            </a:r>
          </a:p>
        </p:txBody>
      </p:sp>
    </p:spTree>
    <p:extLst>
      <p:ext uri="{BB962C8B-B14F-4D97-AF65-F5344CB8AC3E}">
        <p14:creationId xmlns:p14="http://schemas.microsoft.com/office/powerpoint/2010/main" val="1412885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0226C-B773-0BE3-FD96-261BF4FA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BE6B6-E895-6A29-6427-F8F801291A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719B2A-9CD9-A4B1-20CB-039CB28FC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59091" cy="5334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How Multi-Agent systems work </a:t>
            </a:r>
            <a:br>
              <a:rPr lang="en-IN" sz="2800" kern="12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863B-C6B7-CAA7-6850-8E8A89EC3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715000"/>
          </a:xfrm>
        </p:spPr>
        <p:txBody>
          <a:bodyPr/>
          <a:lstStyle/>
          <a:p>
            <a:pPr lvl="1"/>
            <a:endParaRPr lang="en-IN" dirty="0">
              <a:latin typeface="Calibri" panose="020F0502020204030204" pitchFamily="34" charset="0"/>
              <a:ea typeface="Times New Roman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9AE44-838D-3B5B-4879-D7AC4FBB4BED}"/>
              </a:ext>
            </a:extLst>
          </p:cNvPr>
          <p:cNvSpPr txBox="1"/>
          <p:nvPr/>
        </p:nvSpPr>
        <p:spPr>
          <a:xfrm>
            <a:off x="453044" y="888792"/>
            <a:ext cx="4659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Reasoning and planning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49A579-BA4E-FB57-57B1-02E27CB88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1162"/>
            <a:ext cx="9144000" cy="395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9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F947-EBAC-BDCA-E44C-DF153E962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C5AD2-FAD3-31BD-6888-9F11DD8D0E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8596A06-DC00-FF81-A4EB-322DAFD04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59091" cy="5334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How Multi-Agent systems work </a:t>
            </a:r>
            <a:br>
              <a:rPr lang="en-IN" sz="2800" kern="12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8476A-E560-A703-A63E-DF47CCFBF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7989918" cy="1981200"/>
          </a:xfrm>
        </p:spPr>
        <p:txBody>
          <a:bodyPr/>
          <a:lstStyle/>
          <a:p>
            <a:pPr marL="0" indent="0">
              <a:buNone/>
            </a:pPr>
            <a:r>
              <a:rPr lang="en-IN" sz="2000" b="1" i="1" dirty="0"/>
              <a:t>Interaction structures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Hierarchical</a:t>
            </a:r>
            <a:r>
              <a:rPr lang="en-IN" sz="2000" dirty="0"/>
              <a:t>: manager agents direct subordinates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Centralized</a:t>
            </a:r>
            <a:r>
              <a:rPr lang="en-IN" sz="2000" dirty="0"/>
              <a:t>: a central agent orchestrates all others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Decentralized</a:t>
            </a:r>
            <a:r>
              <a:rPr lang="en-IN" sz="2000" dirty="0"/>
              <a:t>: peer-to-peer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Shared message pool</a:t>
            </a:r>
            <a:r>
              <a:rPr lang="en-IN" sz="2000" dirty="0"/>
              <a:t>: agents publish and subscribe</a:t>
            </a:r>
            <a:endParaRPr lang="en-IN" sz="2000" b="1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B678E8-1A79-FD11-6B02-F8F512F1CE50}"/>
              </a:ext>
            </a:extLst>
          </p:cNvPr>
          <p:cNvSpPr txBox="1"/>
          <p:nvPr/>
        </p:nvSpPr>
        <p:spPr>
          <a:xfrm>
            <a:off x="457200" y="847898"/>
            <a:ext cx="46592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How Agents Coordinate</a:t>
            </a:r>
          </a:p>
        </p:txBody>
      </p:sp>
      <p:pic>
        <p:nvPicPr>
          <p:cNvPr id="7" name="Picture 6" descr="(PDF) A survey on LLM-based multi-agent systems: workflow ...">
            <a:extLst>
              <a:ext uri="{FF2B5EF4-FFF2-40B4-BE49-F238E27FC236}">
                <a16:creationId xmlns:a16="http://schemas.microsoft.com/office/drawing/2014/main" id="{B8D87BFF-5601-45BB-3130-22446FE17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5" y="4267200"/>
            <a:ext cx="8942829" cy="18215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4272FC-B137-1E9B-9BA3-FC3BD0825DFC}"/>
              </a:ext>
            </a:extLst>
          </p:cNvPr>
          <p:cNvSpPr txBox="1"/>
          <p:nvPr/>
        </p:nvSpPr>
        <p:spPr>
          <a:xfrm>
            <a:off x="457200" y="3614034"/>
            <a:ext cx="777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Interaction Patterns and Collaboration</a:t>
            </a:r>
          </a:p>
        </p:txBody>
      </p:sp>
    </p:spTree>
    <p:extLst>
      <p:ext uri="{BB962C8B-B14F-4D97-AF65-F5344CB8AC3E}">
        <p14:creationId xmlns:p14="http://schemas.microsoft.com/office/powerpoint/2010/main" val="251420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C1B6-66D8-18AD-212F-CCC69DC3B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AC3A1-7364-F33B-E714-E0FD81D0A5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989071-A3F0-1716-BDC6-DAE1D6620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59091" cy="5334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6. Case Study</a:t>
            </a:r>
            <a:br>
              <a:rPr lang="en-IN" sz="2800" kern="12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CE421-C68D-DE2D-854F-1C726E921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715000"/>
          </a:xfrm>
        </p:spPr>
        <p:txBody>
          <a:bodyPr/>
          <a:lstStyle/>
          <a:p>
            <a:pPr lvl="1"/>
            <a:endParaRPr lang="en-IN" dirty="0">
              <a:latin typeface="Calibri" panose="020F0502020204030204" pitchFamily="34" charset="0"/>
              <a:ea typeface="Times New Roman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249A82-81EE-35BC-3C9A-56B1A5583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205111"/>
            <a:ext cx="7543800" cy="27713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DF7CAB-4F29-0DFB-90CD-FC54F8AD208D}"/>
              </a:ext>
            </a:extLst>
          </p:cNvPr>
          <p:cNvSpPr txBox="1"/>
          <p:nvPr/>
        </p:nvSpPr>
        <p:spPr>
          <a:xfrm>
            <a:off x="371821" y="78982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An Autonomous Research Assistant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C5CF95-C538-06E6-F1AD-E790259A1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406781"/>
              </p:ext>
            </p:extLst>
          </p:nvPr>
        </p:nvGraphicFramePr>
        <p:xfrm>
          <a:off x="457200" y="4080510"/>
          <a:ext cx="8153400" cy="235077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82881514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017334918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562866436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Job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870918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IN" sz="1400" dirty="0"/>
                        <a:t>Search Agent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Agent (tools: web search, scrape)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Finds sources for the topic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879109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IN" sz="1400" dirty="0"/>
                        <a:t>Reader Agent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Agent (tool: scrape)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Reads the pages and summarizes them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72328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IN" sz="1400" dirty="0"/>
                        <a:t>Writer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LLM chain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Writes the 7-section report from the research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5173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IN" sz="1400" dirty="0"/>
                        <a:t>Critic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LLM chain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Scores the report /10 and gives feedback and a verdict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621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30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C717E-8C19-0C0C-BAA5-0B963330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E771F-99E3-5710-2438-8FA56DBEA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ABF4CF-219E-2709-5E1F-E25862DD4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59091" cy="5334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6. Case Study</a:t>
            </a:r>
            <a:br>
              <a:rPr lang="en-IN" sz="2800" kern="12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4A4CF-6019-9FEA-3D20-18FA3DDC5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715000"/>
          </a:xfrm>
        </p:spPr>
        <p:txBody>
          <a:bodyPr/>
          <a:lstStyle/>
          <a:p>
            <a:pPr lvl="1"/>
            <a:endParaRPr lang="en-IN" dirty="0">
              <a:latin typeface="Calibri" panose="020F0502020204030204" pitchFamily="34" charset="0"/>
              <a:ea typeface="Times New Roman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7C903-69A9-03BF-4070-DC6876FF2E8B}"/>
              </a:ext>
            </a:extLst>
          </p:cNvPr>
          <p:cNvSpPr txBox="1"/>
          <p:nvPr/>
        </p:nvSpPr>
        <p:spPr>
          <a:xfrm>
            <a:off x="457200" y="1200094"/>
            <a:ext cx="80010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400" b="1" dirty="0"/>
              <a:t>Workflow</a:t>
            </a:r>
          </a:p>
          <a:p>
            <a:pPr rtl="0">
              <a:buNone/>
            </a:pPr>
            <a:endParaRPr lang="en-IN" sz="2400" b="1" dirty="0"/>
          </a:p>
          <a:p>
            <a:pPr rtl="0">
              <a:buNone/>
            </a:pPr>
            <a:r>
              <a:rPr lang="en-IN" b="1" dirty="0"/>
              <a:t>Topic → Search Agent → Reader Agent → Writer → Critic → Report + score</a:t>
            </a:r>
          </a:p>
          <a:p>
            <a:pPr rtl="0">
              <a:buNone/>
            </a:pPr>
            <a:endParaRPr lang="en-IN" dirty="0"/>
          </a:p>
          <a:p>
            <a:pPr marL="342900" lvl="0" indent="-342900" rtl="0">
              <a:buFont typeface="+mj-lt"/>
              <a:buAutoNum type="arabicPeriod"/>
            </a:pPr>
            <a:r>
              <a:rPr lang="en-IN" b="1" dirty="0"/>
              <a:t>Profile:</a:t>
            </a:r>
            <a:r>
              <a:rPr lang="en-IN" dirty="0"/>
              <a:t> four fixed system prompts.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b="1" dirty="0"/>
              <a:t>Perception:</a:t>
            </a:r>
            <a:r>
              <a:rPr lang="en-IN" dirty="0"/>
              <a:t> the topic, search results and scraped page text.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b="1" dirty="0"/>
              <a:t>Self-action:</a:t>
            </a:r>
            <a:r>
              <a:rPr lang="en-IN" dirty="0"/>
              <a:t> the two agents choose and call tools. The writer and critic only generate text.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b="1" dirty="0"/>
              <a:t>Mutual interaction:</a:t>
            </a:r>
            <a:r>
              <a:rPr lang="en-IN" dirty="0"/>
              <a:t> a </a:t>
            </a:r>
            <a:r>
              <a:rPr lang="en-IN" b="1" dirty="0"/>
              <a:t>cooperative, ordered pipeline</a:t>
            </a:r>
            <a:r>
              <a:rPr lang="en-IN" dirty="0"/>
              <a:t> where each output is passed as text to the next step. It is centralized because the script controls the flow.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b="1" dirty="0"/>
              <a:t>Evolution:</a:t>
            </a:r>
            <a:r>
              <a:rPr lang="en-IN" dirty="0"/>
              <a:t> none yet. The critic’s verdict isn’t fed back.</a:t>
            </a:r>
          </a:p>
        </p:txBody>
      </p:sp>
    </p:spTree>
    <p:extLst>
      <p:ext uri="{BB962C8B-B14F-4D97-AF65-F5344CB8AC3E}">
        <p14:creationId xmlns:p14="http://schemas.microsoft.com/office/powerpoint/2010/main" val="1042746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4BA7B-0C16-5596-8D93-E7C0B5EC1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B6A36-1AB0-7736-C68E-DB1CEBF7F5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2691" y="6553200"/>
            <a:ext cx="21336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E97559-2B26-71A6-432D-4F92D9B4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659091" cy="533400"/>
          </a:xfrm>
        </p:spPr>
        <p:txBody>
          <a:bodyPr/>
          <a:lstStyle/>
          <a:p>
            <a:pPr algn="r"/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7. Applications and Challenges</a:t>
            </a:r>
            <a:br>
              <a:rPr lang="en-IN" sz="2800" kern="1200" dirty="0">
                <a:solidFill>
                  <a:schemeClr val="accent4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A7321-9438-F908-E384-D09D4ABD1B0A}"/>
              </a:ext>
            </a:extLst>
          </p:cNvPr>
          <p:cNvSpPr txBox="1"/>
          <p:nvPr/>
        </p:nvSpPr>
        <p:spPr>
          <a:xfrm>
            <a:off x="457200" y="1143000"/>
            <a:ext cx="8077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Software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Robotics, Embodied AI &amp; Interactive Gaming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Scientific Discovery, Research &amp; Synthesis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Economics, Finance &amp; Recommender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Industrial Operations &amp; Societal Simulations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66939-4203-D206-E8E4-04D32BF1B6F6}"/>
              </a:ext>
            </a:extLst>
          </p:cNvPr>
          <p:cNvSpPr txBox="1"/>
          <p:nvPr/>
        </p:nvSpPr>
        <p:spPr>
          <a:xfrm>
            <a:off x="461356" y="3294102"/>
            <a:ext cx="80730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/>
              <a:t>Challenges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b="1" dirty="0"/>
              <a:t>LLM intrinsic constraints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Black box</a:t>
            </a:r>
            <a:r>
              <a:rPr lang="en-IN" dirty="0"/>
              <a:t>: hard to explain or assess decisions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Hallucination</a:t>
            </a:r>
            <a:r>
              <a:rPr lang="en-IN" dirty="0"/>
              <a:t>: one agent's error can propagate to the others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Bias</a:t>
            </a:r>
            <a:r>
              <a:rPr lang="en-IN" dirty="0"/>
              <a:t>: inherited from training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Misuse</a:t>
            </a:r>
            <a:r>
              <a:rPr lang="en-IN" dirty="0"/>
              <a:t>: disinformation, cyber-attacks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Scaling up</a:t>
            </a:r>
            <a:r>
              <a:rPr lang="en-IN" dirty="0"/>
              <a:t>: compute, communication cost, coordination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Dynamic environment adaptation</a:t>
            </a:r>
            <a:r>
              <a:rPr lang="en-IN" dirty="0"/>
              <a:t>: multi-modal and changing conditions</a:t>
            </a:r>
          </a:p>
          <a:p>
            <a:pPr lvl="0" rt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938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350519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sz="1800" dirty="0"/>
              <a:t>A single LLM is limited; teams of specialized agents extend what is possible</a:t>
            </a:r>
          </a:p>
          <a:p>
            <a:pPr lvl="0">
              <a:lnSpc>
                <a:spcPct val="150000"/>
              </a:lnSpc>
            </a:pPr>
            <a:r>
              <a:rPr lang="en-IN" sz="1800" dirty="0"/>
              <a:t>Five modules describe any LLM-MAS: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1800" b="1" dirty="0"/>
              <a:t>	Profile → Perception → Self-action → Interaction → Evolution</a:t>
            </a:r>
            <a:endParaRPr lang="en-IN" sz="1800" dirty="0"/>
          </a:p>
          <a:p>
            <a:pPr lvl="0">
              <a:lnSpc>
                <a:spcPct val="150000"/>
              </a:lnSpc>
            </a:pPr>
            <a:r>
              <a:rPr lang="en-IN" sz="1800" dirty="0"/>
              <a:t>Coordination structure and interaction style (cooperative, adversarial, mixed) shape system behaviour</a:t>
            </a:r>
          </a:p>
          <a:p>
            <a:pPr lvl="0">
              <a:lnSpc>
                <a:spcPct val="150000"/>
              </a:lnSpc>
            </a:pPr>
            <a:r>
              <a:rPr lang="en-IN" sz="1800" dirty="0"/>
              <a:t>The field is young: collective intelligence and </a:t>
            </a:r>
            <a:r>
              <a:rPr lang="en-IN" sz="1800" dirty="0" err="1"/>
              <a:t>AaaS</a:t>
            </a:r>
            <a:r>
              <a:rPr lang="en-IN" sz="1800" dirty="0"/>
              <a:t> are the next frontier</a:t>
            </a:r>
          </a:p>
          <a:p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52800" y="228600"/>
            <a:ext cx="5791200" cy="411162"/>
          </a:xfrm>
        </p:spPr>
        <p:txBody>
          <a:bodyPr/>
          <a:lstStyle/>
          <a:p>
            <a:pPr algn="r"/>
            <a:r>
              <a:rPr lang="en-US" sz="2400" b="1" i="1" dirty="0">
                <a:solidFill>
                  <a:srgbClr val="CC6600"/>
                </a:solidFill>
                <a:latin typeface="Courier New" pitchFamily="49" charset="0"/>
              </a:rPr>
              <a:t>       </a:t>
            </a:r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Conclusion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51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79120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IN" sz="1600" dirty="0"/>
              <a:t>Li, X., Wang, S., Zeng, S., Wu, Y., &amp; Yang, Y. (2024). A survey on LLM-based multi-agent systems: workflow, infrastructure, and challenges. </a:t>
            </a:r>
            <a:r>
              <a:rPr lang="en-IN" sz="1600" i="1" dirty="0" err="1"/>
              <a:t>Vicinagearth</a:t>
            </a:r>
            <a:r>
              <a:rPr lang="en-IN" sz="1600" dirty="0"/>
              <a:t>, 1, Artikel 00009-2. </a:t>
            </a:r>
            <a:r>
              <a:rPr lang="en-IN" sz="1600" dirty="0">
                <a:hlinkClick r:id="rId2"/>
              </a:rPr>
              <a:t>https://doi.org/10.1007/s44336-024-00009-2</a:t>
            </a:r>
            <a:endParaRPr lang="en-IN" sz="1600" dirty="0"/>
          </a:p>
          <a:p>
            <a:pPr marL="0" indent="0"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lang="en-IN" sz="1600" dirty="0"/>
              <a:t>Guo, T., Chen, X., Wang, Y., Chang, R., Pei, S., Chawla, N. V., Wiest, O., &amp; Zhang, X. (2024). Large language model based multi-agents: A survey of progress and challenges. In </a:t>
            </a:r>
            <a:r>
              <a:rPr lang="en-IN" sz="1600" i="1" dirty="0"/>
              <a:t>Proceedings of the Thirty-Third International Joint Conference on Artificial Intelligence (IJCAI-24)</a:t>
            </a:r>
            <a:r>
              <a:rPr lang="en-IN" sz="1600" dirty="0"/>
              <a:t> (pp. 8048–8057). </a:t>
            </a:r>
            <a:r>
              <a:rPr lang="en-IN" sz="1600" dirty="0">
                <a:hlinkClick r:id="rId3"/>
              </a:rPr>
              <a:t>https://doi.org/10.24963/ijcai.2024/890</a:t>
            </a:r>
            <a:endParaRPr lang="en-IN" sz="1600" dirty="0"/>
          </a:p>
          <a:p>
            <a:pPr marL="0" indent="0">
              <a:buNone/>
            </a:pPr>
            <a:endParaRPr lang="en-IN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52800" y="228600"/>
            <a:ext cx="5791200" cy="411162"/>
          </a:xfrm>
        </p:spPr>
        <p:txBody>
          <a:bodyPr/>
          <a:lstStyle/>
          <a:p>
            <a:pPr algn="r"/>
            <a:r>
              <a:rPr lang="en-US" sz="2400" b="1" i="1" dirty="0">
                <a:solidFill>
                  <a:srgbClr val="CC6600"/>
                </a:solidFill>
                <a:latin typeface="Courier New" pitchFamily="49" charset="0"/>
              </a:rPr>
              <a:t>       </a:t>
            </a:r>
            <a:r>
              <a:rPr lang="en-US" sz="2800" b="1" dirty="0">
                <a:solidFill>
                  <a:srgbClr val="CC6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References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159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6">
              <a:buNone/>
            </a:pPr>
            <a:r>
              <a:rPr lang="en-US" sz="3200" dirty="0"/>
              <a:t>   </a:t>
            </a:r>
            <a:r>
              <a:rPr lang="en-US" sz="3600" dirty="0">
                <a:solidFill>
                  <a:srgbClr val="99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  <a:p>
            <a:pPr lvl="6">
              <a:buNone/>
            </a:pPr>
            <a:r>
              <a:rPr lang="en-US" sz="3600" dirty="0">
                <a:solidFill>
                  <a:srgbClr val="99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&amp;</a:t>
            </a:r>
          </a:p>
          <a:p>
            <a:pPr lvl="6">
              <a:buNone/>
            </a:pPr>
            <a:r>
              <a:rPr lang="en-US" sz="3600" dirty="0">
                <a:solidFill>
                  <a:srgbClr val="99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Suggestions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6">
              <a:buNone/>
            </a:pPr>
            <a:r>
              <a:rPr lang="en-US" sz="3600" dirty="0">
                <a:solidFill>
                  <a:srgbClr val="99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YOU…</a:t>
            </a:r>
            <a:endParaRPr lang="en-US" sz="2400" dirty="0">
              <a:solidFill>
                <a:srgbClr val="99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62370</TotalTime>
  <Words>1411</Words>
  <Application>Microsoft Office PowerPoint</Application>
  <PresentationFormat>On-screen Show (4:3)</PresentationFormat>
  <Paragraphs>224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Theme1</vt:lpstr>
      <vt:lpstr>Multi-Agent LLM Systems    </vt:lpstr>
      <vt:lpstr>                   Presentation Outline </vt:lpstr>
      <vt:lpstr>                        1. Introduction</vt:lpstr>
      <vt:lpstr>       2. Objectives</vt:lpstr>
      <vt:lpstr>3. Literature Review</vt:lpstr>
      <vt:lpstr>4. From LLM to Agents  </vt:lpstr>
      <vt:lpstr>4. From LLM to Agents  </vt:lpstr>
      <vt:lpstr>5. How Multi-Agent systems work  </vt:lpstr>
      <vt:lpstr>5. How Multi-Agent systems work  </vt:lpstr>
      <vt:lpstr>5. How Multi-Agent systems work  </vt:lpstr>
      <vt:lpstr>5. How Multi-Agent systems work  </vt:lpstr>
      <vt:lpstr>5. How Multi-Agent systems work  </vt:lpstr>
      <vt:lpstr>5. How Multi-Agent systems work  </vt:lpstr>
      <vt:lpstr>6. Case Study </vt:lpstr>
      <vt:lpstr>6. Case Study </vt:lpstr>
      <vt:lpstr>7. Applications and Challenges </vt:lpstr>
      <vt:lpstr>        Conclusion</vt:lpstr>
      <vt:lpstr>        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 HIGH PERFORMANCE ARITHMETIC UNIT</dc:title>
  <dc:creator>vishnu</dc:creator>
  <cp:lastModifiedBy>Varun B Karmikanda</cp:lastModifiedBy>
  <cp:revision>949</cp:revision>
  <dcterms:created xsi:type="dcterms:W3CDTF">2006-08-16T00:00:00Z</dcterms:created>
  <dcterms:modified xsi:type="dcterms:W3CDTF">2026-10-11T19:51:04Z</dcterms:modified>
</cp:coreProperties>
</file>